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4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9144000" cy="73152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AareML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River Water Quality in Swiss Catchments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Advanced Machine Learning · University of Bern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github.com/polar-bear-after-lunch/AareML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97840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— Career motivation &amp; the deoxygenation problem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57276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CAMELS-CH-Chem, 86 gauges, 40 years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1671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 Baselines — AR(7) · Ridge · LSTM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27889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6148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— Zero-shot across Swiss gauges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33832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3558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EA-LSTM &amp; Temperature — Static catchment attributes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9776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95020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— Findings, limitations, next steps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Swiss rivers are losing oxygen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468880" cy="118872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−0.038</a:t>
            </a:r>
            <a:endParaRPr lang="en-US" sz="3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mg/L per decade deoxygenation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65760" y="2331720"/>
            <a:ext cx="2468880" cy="100584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33172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mg/L</a:t>
            </a:r>
            <a:endParaRPr lang="en-US" sz="26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stress threshold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017520" y="1005840"/>
            <a:ext cx="5760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Use LakeBeD-US benchmark to verify results are not nonsense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CAMELS-CH-Chem (Nascimento et al. 2025) — one author at Uni Bern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 et al. 2023 — 70% of Central European rivers deoxygenating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3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years · 86 gauges · 4 sensor variables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52628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years · 86 gauges · 4 sensor variables · CAMELS-CH-Chem, Nascimento et al. 2025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Only 16 of 86 gauges have DO 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nb01 | Nascimento et al. 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2926080" cy="82296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86</a:t>
            </a:r>
            <a:endParaRPr lang="en-US" sz="2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gauges with dissolved oxygen data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65760" y="1920240"/>
            <a:ext cx="292608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9202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years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1981 – 2020 · daily resolution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880360"/>
            <a:ext cx="292608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88036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variables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 · pH · Conductivity · DO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65760" y="3840480"/>
            <a:ext cx="2926080" cy="594360"/>
          </a:xfrm>
          <a:prstGeom prst="rect">
            <a:avLst/>
          </a:prstGeom>
          <a:solidFill>
            <a:srgbClr val="F0EDE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840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problem — and the motivation for transfer learning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0" y="868680"/>
            <a:ext cx="4114800" cy="32004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" y="450799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CAMELS-CH-Chem · Nascimento et al. 2025 · Scientific Data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LSTM learns the river's memory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nb02 · nb03 · nb14 | Zhi et al. 2021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417320" cy="77724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1440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days</a:t>
            </a:r>
            <a:endParaRPr lang="en-US" sz="18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lookback window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417320" cy="77724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9" name="Text 7"/>
          <p:cNvSpPr/>
          <p:nvPr/>
        </p:nvSpPr>
        <p:spPr>
          <a:xfrm>
            <a:off x="1965960" y="91440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days</a:t>
            </a:r>
            <a:endParaRPr lang="en-US" sz="18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horizon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66160" y="914400"/>
            <a:ext cx="1417320" cy="77724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91440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trials</a:t>
            </a:r>
            <a:endParaRPr lang="en-US" sz="18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hyper-search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28800"/>
          <a:ext cx="484632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AR(7) — DO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0.388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regression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(best)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0.300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3566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one site Ridge keeps up. The difference emerges in transfer.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49240" y="91440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dominates — correlation, not causation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nb05 · nb11 | Kratzert et al. 2019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377440" cy="91440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0.644</a:t>
            </a:r>
            <a:endParaRPr lang="en-US" sz="3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|SHAP| — temperature lag t−1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057400"/>
          <a:ext cx="2377440" cy="192024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0.309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0.314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0.308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0.304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65760" y="40690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6-day lookback (0.308) vs. 21-day (0.304) — negligible difference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434340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shows what the model learned — not the physical mechanism. Cold water holds more oxygen (Henry's Law).</a:t>
            </a:r>
            <a:endParaRPr lang="en-US" sz="10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49240" y="914400"/>
            <a:ext cx="36576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Zero-shot transfer: LSTM beats Ridge where it matters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nb04 · nb16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4754880" cy="18288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1887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zero-shot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0.568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zero-shot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0.464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 per-gauge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0.393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EA-LSTM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0.420 mg/L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25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2971800"/>
            <a:ext cx="210312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29718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 better</a:t>
            </a:r>
            <a:endParaRPr lang="en-US" sz="18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vs Ridge zero-shot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606040" y="2971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p = 0.024 · n = 11 gauges · statistically significant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 cross-validation across all 16 DO gauges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transfer pairs · mean RMSE: 0.463 mg/L — not a cherry-pick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49240" y="914400"/>
            <a:ext cx="36576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 works — until the physics changes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nb06 · nb07 · nb08 · nb10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2651760" cy="137160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Rivers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0.464 mg/L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physics · Zero-shot transfer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651760" cy="137160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96012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Rivers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1.376 mg/L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hydrology · Willamette (OR): 0.996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35040" y="960120"/>
            <a:ext cx="2651760" cy="1371600"/>
          </a:xfrm>
          <a:prstGeom prst="rect">
            <a:avLst/>
          </a:prstGeom>
          <a:solidFill>
            <a:srgbClr val="7A7974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96012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Lakes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 −6.486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physics · Worse than mean predictor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Retrained: 0.768 mg/L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0" y="2514600"/>
            <a:ext cx="45720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catchment attributes improve generalisation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nb04 · nb04b | Höge et al. 2023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743200" cy="118872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Prediction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0.464 → 0.420 mg/L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Improvement: +9%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005840"/>
            <a:ext cx="2743200" cy="118872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00584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2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2.597 → 1.721°C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Improvement: +34%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3317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Static Features from CAMELS-CH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69748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log catchment area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269748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mean elevation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0175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aridity index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30175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mean precipitation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3375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snow fraction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33375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forest cover 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6576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cropland 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365760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urban cover 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explains the temperature gap — catchment attributes anchor predictions per gauge · Kratzert et al. 2019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450799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CAMELS-CH · Höge et al. 2023, ESSD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transfer across 15 gauges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nb04b · nb04c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834640" cy="1645920"/>
          </a:xfrm>
          <a:prstGeom prst="rect">
            <a:avLst/>
          </a:prstGeom>
          <a:solidFill>
            <a:srgbClr val="7A797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LSTM</a:t>
            </a:r>
            <a:endParaRPr lang="en-US" sz="14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2.597°C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 0.727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66160" y="1005840"/>
            <a:ext cx="2834640" cy="164592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00584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EA-LSTM</a:t>
            </a:r>
            <a:endParaRPr lang="en-US" sz="14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1.721°C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 0.862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788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improvement — elevation is the dominant static attribute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32004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Notebooks: nb04b · nb04c (EC as precipitation proxy)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 today — but the trend is clear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47731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2194560" cy="109728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</a:t>
            </a:r>
            <a:endParaRPr lang="en-US" sz="11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safe DO limits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mg/L early warning threshold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2194560" cy="91440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2402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System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get time to act before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 mg/L fish stress threshold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324612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Zurich rivers are currently above the fish stress threshold of 6 mg/L.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warming year over year — dissolved oxygen declining in step.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needs to be built now — not after the first fish kill.</a:t>
            </a:r>
            <a:endParaRPr lang="en-US" sz="10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40480" y="868680"/>
            <a:ext cx="4114800" cy="32004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74320" y="450799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 et al. 2023 — −0.038 mg/L per decade across Central European rivers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AI-assisted development · UBELIX HPC · Eawag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651760" cy="201168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notebooks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Baselines → LSTM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Transfer → Validation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Ablation → EA-LSTM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201168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0" y="100584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RTX 4090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UBELIX HPC cluster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Bern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up to 8 hours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005840"/>
            <a:ext cx="2651760" cy="2011680"/>
          </a:xfrm>
          <a:prstGeom prst="rect">
            <a:avLst/>
          </a:prstGeom>
          <a:solidFill>
            <a:srgbClr val="7A7974"/>
          </a:solidFill>
          <a:ln/>
        </p:spPr>
      </p:sp>
      <p:sp>
        <p:nvSpPr>
          <p:cNvPr id="10" name="Text 8"/>
          <p:cNvSpPr/>
          <p:nvPr/>
        </p:nvSpPr>
        <p:spPr>
          <a:xfrm>
            <a:off x="6035040" y="1005840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Nascimento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Eawag, Kastanienbaum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CAMELS-CH-Chem co-author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technical review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8412480" cy="777240"/>
          </a:xfrm>
          <a:prstGeom prst="rect">
            <a:avLst/>
          </a:prstGeom>
          <a:solidFill>
            <a:srgbClr val="F0EDE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20040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Code by AI. Ideas, decisions, and scientific judgement by me.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4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equations, three unknowns — and a direction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43891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zero-shot 18% better than Ridge in transfer (0.464 vs. 0.568 mg/L)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EA-LSTM: 34% improvement for temperature (2.597 → 1.721°C)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Lakes: NSE −6.486 — river model cannot handle stratified physics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robust across 110 LOO cross-validation pairs (mean 0.463 mg/L)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37760" y="9144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E2E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280160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Nascimento et al. 2025 — CAMELS-CH-Chem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Höge et al. 2023 — CAMELS-CH base attributes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 et al. 2021 — DO LSTM benchmark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Kratzert et al. 2019 — EA-LSTM for hydrology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Zhi et al. 2023 — Central European deoxygenation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github.com/polar-bear-after-lunch/AareML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2026-05-19T14:06:11Z</dcterms:created>
  <dcterms:modified xsi:type="dcterms:W3CDTF">2026-05-19T14:06:11Z</dcterms:modified>
</cp:coreProperties>
</file>