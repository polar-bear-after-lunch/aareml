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3200400" cy="10287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8580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AareML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C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River Water Quality in Swiss Catchments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24505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Advanced Machine Learning — Final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University of Bern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oxygen (DO) is the primary stress indicator for river ecosystems — drops below 6 mg/L cause fish stress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rivers face increasing thermal stress from climate change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monitoring is reactive — no multi-day predictive capability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0972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280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14-day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30936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window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Experimental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703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CAMELS-CH-Chem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(Nascimento et al. 2025)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Swiss gauges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records: 1981–2020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features: temp, pH, EC, 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6908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Setup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444752"/>
            <a:ext cx="3703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1981–2014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2015–2016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2017–2020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LSTM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= 21 days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= 14 days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Seq2Seq LSTM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21-day lookback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54680" y="1554480"/>
            <a:ext cx="731520" cy="1645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4447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01752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105156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0515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14-day forecast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14447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178040" y="1143000"/>
            <a:ext cx="1600200" cy="1005840"/>
          </a:xfrm>
          <a:prstGeom prst="roundRect">
            <a:avLst>
              <a:gd name="adj" fmla="val 6364"/>
            </a:avLst>
          </a:prstGeom>
          <a:solidFill>
            <a:srgbClr val="D6ECED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1430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predictions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Choices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forcing with linear decay schedule</a:t>
            </a:r>
            <a:endParaRPr lang="en-US" sz="1400" dirty="0"/>
          </a:p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hyperparameter search — 75 trials</a:t>
            </a:r>
            <a:endParaRPr lang="en-US" sz="1400" dirty="0"/>
          </a:p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3-seed ensemble for variance estimation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77840" y="2468880"/>
            <a:ext cx="320040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560320"/>
            <a:ext cx="2926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Search Space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hidden_size: 64–256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num_layers: 1–3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0.1–0.4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1e-4 – 1e-2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Single-Site Results — Gauge 2473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E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RMSE (mg/L)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E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KGE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E5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VAR(7)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C4E5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LSTM (Optuna) ★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C4E5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0.303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C4E5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0.945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E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960120"/>
            <a:ext cx="2834640" cy="3474720"/>
          </a:xfrm>
          <a:prstGeom prst="roundRect">
            <a:avLst>
              <a:gd name="adj" fmla="val 2581"/>
            </a:avLst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C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26480" y="150876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matches VAR(7) on RMSE but leads on KGE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 vs 0.911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distributional fidelity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Transfer to 11 Swiss Gauges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0.451 mg/L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zero-shot RMSE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27432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0.568 mg/L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zero-shot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447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377440"/>
            <a:ext cx="27432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0.390 mg/L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Per-gauge retrain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447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fine-tuning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27432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0.435 mg/L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EA-LSTM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447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static attributes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4348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Wilcoxon: p = 0.037, n = 10 (uncorrected)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Prediction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Temperature Forecast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2.598°C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48840" y="1874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EA-LSTM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1874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1.360°C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47% improvement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6052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 Proxy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5087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+ EC features</a:t>
            </a:r>
            <a:endParaRPr lang="en-US" sz="15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1.414°C RMSE</a:t>
            </a:r>
            <a:endParaRPr lang="en-US" sz="1500" dirty="0"/>
          </a:p>
          <a:p>
            <a:pPr indent="0" marL="0">
              <a:buNone/>
            </a:pPr>
            <a:r>
              <a:rPr lang="en-US" sz="7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Temperature-only</a:t>
            </a:r>
            <a:endParaRPr lang="en-US" sz="1500" dirty="0"/>
          </a:p>
          <a:p>
            <a:pPr indent="0" marL="0">
              <a:buNone/>
            </a:pPr>
            <a:r>
              <a:rPr lang="en-US" sz="26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1.451°C RMSE</a:t>
            </a:r>
            <a:endParaRPr lang="en-US" sz="1500" dirty="0"/>
          </a:p>
          <a:p>
            <a:pPr indent="0" marL="0">
              <a:buNone/>
            </a:pPr>
            <a:r>
              <a:rPr lang="en-US" sz="7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 gain from adding EC as proxy feature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Cross-Ecosystem &amp; Cross-Continental Transfer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88920" cy="2926080"/>
          </a:xfrm>
          <a:prstGeom prst="roundRect">
            <a:avLst>
              <a:gd name="adj" fmla="val 2295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 Mendota (nb06)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2.962 mg/L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21762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RMSE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= −2.145 — FAILED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88920" cy="2926080"/>
          </a:xfrm>
          <a:prstGeom prst="roundRect">
            <a:avLst>
              <a:gd name="adj" fmla="val 2295"/>
            </a:avLst>
          </a:prstGeom>
          <a:solidFill>
            <a:srgbClr val="E8F4F4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515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Swiss Lakes (nb10)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4630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0.768 mg/L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46120" y="21762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RMSE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3.980 mg/L → retrained 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788920" cy="2926080"/>
          </a:xfrm>
          <a:prstGeom prst="roundRect">
            <a:avLst>
              <a:gd name="adj" fmla="val 2295"/>
            </a:avLst>
          </a:prstGeom>
          <a:solidFill>
            <a:srgbClr val="F7F6F2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515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USGS US Rivers (nb08)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4630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1.368 mg/L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72200" y="21762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zero-shot RMSE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514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4.5× harder than Swiss rivers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8503920" cy="777240"/>
          </a:xfrm>
          <a:prstGeom prst="roundRect">
            <a:avLst>
              <a:gd name="adj" fmla="val 8235"/>
            </a:avLst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9776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Finding: Domain-specific retraining essential for lake transfer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Independent Benchmarks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NeuralHydrology EA-LSTM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Multi-gauge (11 sites):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RMSE: 0.512 mg/L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NSE: 0.756</a:t>
            </a:r>
            <a:endParaRPr lang="en-US" sz="1350" dirty="0"/>
          </a:p>
          <a:p>
            <a:pPr indent="0" marL="0">
              <a:buNone/>
            </a:pPr>
            <a:r>
              <a:rPr lang="en-US" sz="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2473: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0.407 mg/L, NSE: 0.816</a:t>
            </a:r>
            <a:endParaRPr lang="en-US" sz="1350" dirty="0"/>
          </a:p>
          <a:p>
            <a:pPr indent="0" marL="0">
              <a:buNone/>
            </a:pPr>
            <a:r>
              <a:rPr lang="en-US" sz="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feasibility of seq2seq approach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6052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C8D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Cascaded Model (DO = linear(T) + residual)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2473 comparison: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A: 0.872 mg/L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B: 0.893 mg/L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0.303 mg/L</a:t>
            </a:r>
            <a:endParaRPr lang="en-US" sz="1350" dirty="0"/>
          </a:p>
          <a:p>
            <a:pPr indent="0" marL="0">
              <a:buNone/>
            </a:pPr>
            <a:r>
              <a:rPr lang="en-US" sz="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already captures Henry's Law implicitly — no cascading needed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3E44"/>
          </a:solidFill>
          <a:ln w="12700">
            <a:solidFill>
              <a:srgbClr val="0A3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EC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LSTM: RMSE = 0.303 mg/L, KGE = 0.945 at gauge 2473 — comparable to VAR(7) on RMSE, superior on dynamics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transfer to 11 gauges: 0.451 mg/L (p = 0.037 vs Ridge, uncorrected)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EA-LSTM temperature: 47% improvement over zero-shot (1.360°C)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transfer fails without retraining — ecosystem boundaries matter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9144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3640" y="1444752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AWEL data integration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monitoring pipeline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operational system (AquaSentinel AI)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3E44"/>
          </a:solidFill>
          <a:ln w="12700">
            <a:solidFill>
              <a:srgbClr val="0A3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github.com/polar-bear-after-lunch/AareML  ·  v1.34  ·  June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2026-06-12T20:09:16Z</dcterms:created>
  <dcterms:modified xsi:type="dcterms:W3CDTF">2026-06-12T20:09:16Z</dcterms:modified>
</cp:coreProperties>
</file>